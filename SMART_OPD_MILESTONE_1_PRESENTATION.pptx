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web-based Smart Digital OPD Management System with AI-assisted patient triage. State clearly this is a Milestone 1 / Initial Progress Review, not a final defense. Mention team, department, institution and academic year. Set expectations: we present the foundation and direction, not a completed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are building a web application that improves the OPD workflow end to end: digital registration, visit management and structured symptom collection, plus AI-assisted symptom understanding, preliminary ML triage, safety rules and a priority-aware realtime queue. Walk the flow on the right. Emphasise 'assisted' and 'preliminary' — the system supports staff, it does not replace clinical judgement.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explicit that digital OPD is NOT new — ORS/eHospital already provide registration, appointments, records, OPD slips, prescriptions, lab reports, administration and reporting. So the problem is not 'hospitals are manual.' The opportunity: existing systems digitise administration and records well; we add an integrated intelligent layer — AI symptom understanding, preliminary ML triage, safety rules, priority-aware live queue and realtime coordination. Avoid any 'first in the world' or 'no hospital has this' claims.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intentions for the full project, not all achieved yet. Group them: (1-2) digitise and structure OPD data; (3-5) the intelligence layer — AI symptom interaction, prototype ML triage, safety rules; (6) queue and realtime coordination; (7) security and RBAC; (8) foundation for future patient-facing services. Stress the ML triage is a prototype and safety rules run before prioritisation.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complete conceptual workflow. Note the order: AI structures symptoms first, then deterministic safety rules are evaluated, then the ML model produces a PRELIMINARY priority. Safety rules take precedence over the model. Restate the boundary on the right: AI does not diagnose; it is decision support; the final clinical decision stays with the authorised professional.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High-level only. React front end talks to a Node.js + Express backend, which coordinates three services: Supabase PostgreSQL with PostGIS for data, Gemini for AI language tasks, and a Python FastAPI service running scikit-learn for the custom ML triage model. Security spans Supabase Auth to JWT to RBAC to Row-Level Security. Realtime is handled by Socket.io — the single realtime layer. If asked: no Firebase, no MongoDB, no separate realtime service.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'what have you done' slide — be precise and honest. Architecture defined. Minimal frontend prototype exists (initial/minimal, mock-data driven, not final UI). Initial backend foundation only — complete backend not finished. AI/ML approach explored and defined. Datasets explored for suitability — no final model trained. Existing digital OPD systems researched to identify the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have already begun the intelligent-system research, not just the UI. Pipeline: candidate datasets to feature/label analysis to preprocessing to candidate models to a preliminary triage model. Name only datasets we examined (MIMIC-IV-ED and its demo subset, Symptom2Disease; others supporting/optional). The target is an operational priority RED/YELLOW/GREEN, not a diagnosis. Candidate models: TF-IDF + Logistic Regression baseline, then Random Forest / XGBoost. Be explicit: no accuracy numbers yet — placeholders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= achieved: architecture defined, minimal frontend prototype, initial backend foundation, AI/ML workflow explored, datasets explored, existing systems researched, direction established. Right = next milestone (future work): complete database, auth/authorisation, full backend APIs, AI symptom pipeline, dataset preprocessing, train/evaluate ML model, safety-rule engine, realtime queue, frontend-backend integration, testing. Keep the two columns clearly separated — the right items are not done.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it together: existing digital OPD systems handle registration, appointments, records and operations well. Our contribution is to integrate AI-assisted symptom understanding, preliminary ML triage, safety-rule evaluation and a realtime priority-aware queue into one focused OPD workflow. Close on the honest positioning: a secure, intelligent, realtime OPD workflow built as a semester-level prototype — decision support, not autonomous diagnosis or a doctor replacement.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097280"/>
            <a:ext cx="4754880" cy="4754880"/>
          </a:xfrm>
          <a:prstGeom prst="roundRect">
            <a:avLst>
              <a:gd name="adj" fmla="val 7692"/>
            </a:avLst>
          </a:prstGeom>
          <a:solidFill>
            <a:srgbClr val="0E7C7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291840"/>
            <a:ext cx="4206240" cy="4206240"/>
          </a:xfrm>
          <a:prstGeom prst="roundRect">
            <a:avLst>
              <a:gd name="adj" fmla="val 8696"/>
            </a:avLst>
          </a:prstGeom>
          <a:solidFill>
            <a:srgbClr val="2EC4B6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24160" y="1188720"/>
            <a:ext cx="2377440" cy="2377440"/>
          </a:xfrm>
          <a:prstGeom prst="ellipse">
            <a:avLst/>
          </a:prstGeom>
          <a:solidFill>
            <a:srgbClr val="F2A541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601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PROJECT  ·  MILESTONE 1 — INITIAL PROGRESS REVIEW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8412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and Development of a</a:t>
            </a:r>
            <a:endParaRPr lang="en-US" sz="34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Digital OPD Management System</a:t>
            </a:r>
            <a:endParaRPr lang="en-US" sz="34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AI-Based Patient Triage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4160520"/>
            <a:ext cx="1865376" cy="384048"/>
          </a:xfrm>
          <a:prstGeom prst="roundRect">
            <a:avLst>
              <a:gd name="adj" fmla="val 50000"/>
            </a:avLst>
          </a:prstGeom>
          <a:solidFill>
            <a:srgbClr val="0E5B5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160520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OPD Workflow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78608" y="4160520"/>
            <a:ext cx="1865376" cy="384048"/>
          </a:xfrm>
          <a:prstGeom prst="roundRect">
            <a:avLst>
              <a:gd name="adj" fmla="val 50000"/>
            </a:avLst>
          </a:prstGeom>
          <a:solidFill>
            <a:srgbClr val="0E5B58"/>
          </a:solidFill>
          <a:ln/>
        </p:spPr>
      </p:sp>
      <p:sp>
        <p:nvSpPr>
          <p:cNvPr id="10" name="Text 8"/>
          <p:cNvSpPr/>
          <p:nvPr/>
        </p:nvSpPr>
        <p:spPr>
          <a:xfrm>
            <a:off x="2578608" y="4160520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Symptoms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08576" y="4160520"/>
            <a:ext cx="1945843" cy="384048"/>
          </a:xfrm>
          <a:prstGeom prst="roundRect">
            <a:avLst>
              <a:gd name="adj" fmla="val 50000"/>
            </a:avLst>
          </a:prstGeom>
          <a:solidFill>
            <a:srgbClr val="0E5B58"/>
          </a:solidFill>
          <a:ln/>
        </p:spPr>
      </p:sp>
      <p:sp>
        <p:nvSpPr>
          <p:cNvPr id="12" name="Text 10"/>
          <p:cNvSpPr/>
          <p:nvPr/>
        </p:nvSpPr>
        <p:spPr>
          <a:xfrm>
            <a:off x="4608576" y="4160520"/>
            <a:ext cx="194584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ML Triage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719011" y="4160520"/>
            <a:ext cx="1382573" cy="384048"/>
          </a:xfrm>
          <a:prstGeom prst="roundRect">
            <a:avLst>
              <a:gd name="adj" fmla="val 50000"/>
            </a:avLst>
          </a:prstGeom>
          <a:solidFill>
            <a:srgbClr val="0E5B58"/>
          </a:solidFill>
          <a:ln/>
        </p:spPr>
      </p:sp>
      <p:sp>
        <p:nvSpPr>
          <p:cNvPr id="14" name="Text 12"/>
          <p:cNvSpPr/>
          <p:nvPr/>
        </p:nvSpPr>
        <p:spPr>
          <a:xfrm>
            <a:off x="6719011" y="4160520"/>
            <a:ext cx="138257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 Queue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502920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</a:t>
            </a:r>
            <a:pPr indent="0" marL="0">
              <a:buNone/>
            </a:pPr>
            <a:r>
              <a:rPr lang="en-US" sz="1300" dirty="0">
                <a:solidFill>
                  <a:srgbClr val="CFE1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team member names / roll numbers]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5358384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Department: </a:t>
            </a:r>
            <a:pPr indent="0" marL="0">
              <a:buNone/>
            </a:pPr>
            <a:r>
              <a:rPr lang="en-US" sz="1300" dirty="0">
                <a:solidFill>
                  <a:srgbClr val="CFE1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department]        </a:t>
            </a:r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Institution: </a:t>
            </a:r>
            <a:pPr indent="0" marL="0">
              <a:buNone/>
            </a:pPr>
            <a:r>
              <a:rPr lang="en-US" sz="1300" dirty="0">
                <a:solidFill>
                  <a:srgbClr val="CFE1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institution]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568756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Year: </a:t>
            </a:r>
            <a:pPr indent="0" marL="0">
              <a:buNone/>
            </a:pPr>
            <a:r>
              <a:rPr lang="en-US" sz="1300" dirty="0">
                <a:solidFill>
                  <a:srgbClr val="CFE1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semester / academic year]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Introduction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6766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Smart Digital OPD Management System that improves the outpatient workflow — from registration through consultation — by combining digital records with an AI-assisted, priority-aware triage layer.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F4F9F8"/>
          </a:solidFill>
          <a:ln w="12700">
            <a:solidFill>
              <a:srgbClr val="CFE1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" y="2724912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950976" y="2514600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patient registration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023360" y="2514600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F4F9F8"/>
          </a:solidFill>
          <a:ln w="12700">
            <a:solidFill>
              <a:srgbClr val="CFE1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69664" y="2724912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8"/>
          <p:cNvSpPr/>
          <p:nvPr/>
        </p:nvSpPr>
        <p:spPr>
          <a:xfrm>
            <a:off x="4425696" y="2514600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 visit management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246120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F4F9F8"/>
          </a:solidFill>
          <a:ln w="12700">
            <a:solidFill>
              <a:srgbClr val="CFE1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4944" y="3456432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3" name="Text 11"/>
          <p:cNvSpPr/>
          <p:nvPr/>
        </p:nvSpPr>
        <p:spPr>
          <a:xfrm>
            <a:off x="950976" y="3246120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symptom collection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023360" y="3246120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F4F9F8"/>
          </a:solidFill>
          <a:ln w="12700">
            <a:solidFill>
              <a:srgbClr val="CFE1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69664" y="3456432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/>
          <p:nvPr/>
        </p:nvSpPr>
        <p:spPr>
          <a:xfrm>
            <a:off x="4425696" y="3246120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symptom understanding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977640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F4F9F8"/>
          </a:solidFill>
          <a:ln w="12700">
            <a:solidFill>
              <a:srgbClr val="CFE1D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4944" y="4187952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9" name="Text 17"/>
          <p:cNvSpPr/>
          <p:nvPr/>
        </p:nvSpPr>
        <p:spPr>
          <a:xfrm>
            <a:off x="950976" y="3977640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ML-based triage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023360" y="3977640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F4F9F8"/>
          </a:solidFill>
          <a:ln w="12700">
            <a:solidFill>
              <a:srgbClr val="CFE1D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69664" y="4187952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2" name="Text 20"/>
          <p:cNvSpPr/>
          <p:nvPr/>
        </p:nvSpPr>
        <p:spPr>
          <a:xfrm>
            <a:off x="4425696" y="3977640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Safety-rule evaluation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709160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F4F9F8"/>
          </a:solidFill>
          <a:ln w="12700">
            <a:solidFill>
              <a:srgbClr val="CFE1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4944" y="4919472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5" name="Text 23"/>
          <p:cNvSpPr/>
          <p:nvPr/>
        </p:nvSpPr>
        <p:spPr>
          <a:xfrm>
            <a:off x="950976" y="4709160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Priority-aware queue management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023360" y="4709160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F4F9F8"/>
          </a:solidFill>
          <a:ln w="12700">
            <a:solidFill>
              <a:srgbClr val="CFE1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69664" y="4919472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8" name="Text 26"/>
          <p:cNvSpPr/>
          <p:nvPr/>
        </p:nvSpPr>
        <p:spPr>
          <a:xfrm>
            <a:off x="4425696" y="4709160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 staff–doctor coordination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818120" y="1417320"/>
            <a:ext cx="3822192" cy="4892040"/>
          </a:xfrm>
          <a:prstGeom prst="roundRect">
            <a:avLst>
              <a:gd name="adj" fmla="val 2871"/>
            </a:avLst>
          </a:prstGeom>
          <a:solidFill>
            <a:srgbClr val="0B2E30"/>
          </a:solidFill>
          <a:ln/>
        </p:spPr>
      </p:sp>
      <p:sp>
        <p:nvSpPr>
          <p:cNvPr id="30" name="Text 28"/>
          <p:cNvSpPr/>
          <p:nvPr/>
        </p:nvSpPr>
        <p:spPr>
          <a:xfrm>
            <a:off x="7818120" y="1572768"/>
            <a:ext cx="3822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FLOW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138160" y="1965960"/>
            <a:ext cx="3182112" cy="384048"/>
          </a:xfrm>
          <a:prstGeom prst="roundRect">
            <a:avLst>
              <a:gd name="adj" fmla="val 21429"/>
            </a:avLst>
          </a:prstGeom>
          <a:solidFill>
            <a:srgbClr val="10403F"/>
          </a:solidFill>
          <a:ln w="12700">
            <a:solidFill>
              <a:srgbClr val="1C52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38160" y="1965960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592056" y="2331720"/>
            <a:ext cx="27432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138160" y="2491740"/>
            <a:ext cx="3182112" cy="384048"/>
          </a:xfrm>
          <a:prstGeom prst="roundRect">
            <a:avLst>
              <a:gd name="adj" fmla="val 21429"/>
            </a:avLst>
          </a:prstGeom>
          <a:solidFill>
            <a:srgbClr val="10403F"/>
          </a:solidFill>
          <a:ln w="12700">
            <a:solidFill>
              <a:srgbClr val="1C52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38160" y="2491740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9592056" y="2857500"/>
            <a:ext cx="27432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8138160" y="3017520"/>
            <a:ext cx="3182112" cy="384048"/>
          </a:xfrm>
          <a:prstGeom prst="roundRect">
            <a:avLst>
              <a:gd name="adj" fmla="val 21429"/>
            </a:avLst>
          </a:prstGeom>
          <a:solidFill>
            <a:srgbClr val="10403F"/>
          </a:solidFill>
          <a:ln w="12700">
            <a:solidFill>
              <a:srgbClr val="1C52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38160" y="3017520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 Visit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9592056" y="3383280"/>
            <a:ext cx="27432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8138160" y="3543300"/>
            <a:ext cx="3182112" cy="384048"/>
          </a:xfrm>
          <a:prstGeom prst="roundRect">
            <a:avLst>
              <a:gd name="adj" fmla="val 21429"/>
            </a:avLst>
          </a:prstGeom>
          <a:solidFill>
            <a:srgbClr val="10403F"/>
          </a:solidFill>
          <a:ln w="12700">
            <a:solidFill>
              <a:srgbClr val="1C52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38160" y="3543300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9592056" y="3909060"/>
            <a:ext cx="27432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8138160" y="4069080"/>
            <a:ext cx="3182112" cy="384048"/>
          </a:xfrm>
          <a:prstGeom prst="roundRect">
            <a:avLst>
              <a:gd name="adj" fmla="val 21429"/>
            </a:avLst>
          </a:prstGeom>
          <a:solidFill>
            <a:srgbClr val="0E7C7B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138160" y="4069080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Understanding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9592056" y="4434840"/>
            <a:ext cx="27432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8138160" y="4594860"/>
            <a:ext cx="3182112" cy="384048"/>
          </a:xfrm>
          <a:prstGeom prst="roundRect">
            <a:avLst>
              <a:gd name="adj" fmla="val 21429"/>
            </a:avLst>
          </a:prstGeom>
          <a:solidFill>
            <a:srgbClr val="0E7C7B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138160" y="4594860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Triage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9592056" y="4960620"/>
            <a:ext cx="27432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8138160" y="5120640"/>
            <a:ext cx="3182112" cy="384048"/>
          </a:xfrm>
          <a:prstGeom prst="roundRect">
            <a:avLst>
              <a:gd name="adj" fmla="val 21429"/>
            </a:avLst>
          </a:prstGeom>
          <a:solidFill>
            <a:srgbClr val="10403F"/>
          </a:solidFill>
          <a:ln w="12700">
            <a:solidFill>
              <a:srgbClr val="1C525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138160" y="5120640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Queue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9592056" y="5486400"/>
            <a:ext cx="27432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8138160" y="5646420"/>
            <a:ext cx="3182112" cy="384048"/>
          </a:xfrm>
          <a:prstGeom prst="roundRect">
            <a:avLst>
              <a:gd name="adj" fmla="val 21429"/>
            </a:avLst>
          </a:prstGeom>
          <a:solidFill>
            <a:srgbClr val="10403F"/>
          </a:solidFill>
          <a:ln w="12700">
            <a:solidFill>
              <a:srgbClr val="1C525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138160" y="5646420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Digital OPD  ·  Milestone 1 — Initial Progress Review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 &amp; Problem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OPD is already established. National ecosystems such as India's ORS / eHospital provide substantial digital capability. The opportunity is a more integrated, intelligent OPD workflow on top of that foundation.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074920" cy="3931920"/>
          </a:xfrm>
          <a:prstGeom prst="roundRect">
            <a:avLst>
              <a:gd name="adj" fmla="val 2791"/>
            </a:avLst>
          </a:prstGeom>
          <a:solidFill>
            <a:srgbClr val="F4F9F8"/>
          </a:solidFill>
          <a:ln w="12700">
            <a:solidFill>
              <a:srgbClr val="CFE1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532888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E5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DIGITAL OPD (ORS / eHospital)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41248" y="3044952"/>
            <a:ext cx="128016" cy="128016"/>
          </a:xfrm>
          <a:prstGeom prst="ellipse">
            <a:avLst/>
          </a:prstGeom>
          <a:solidFill>
            <a:srgbClr val="5B7377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953512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patient registration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41248" y="3557016"/>
            <a:ext cx="128016" cy="128016"/>
          </a:xfrm>
          <a:prstGeom prst="ellipse">
            <a:avLst/>
          </a:prstGeom>
          <a:solidFill>
            <a:srgbClr val="5B7377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465576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 appointment workflows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41248" y="4069080"/>
            <a:ext cx="128016" cy="128016"/>
          </a:xfrm>
          <a:prstGeom prst="ellipse">
            <a:avLst/>
          </a:prstGeom>
          <a:solidFill>
            <a:srgbClr val="5B7377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977640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 &amp; digital OPD slips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41248" y="4581144"/>
            <a:ext cx="128016" cy="128016"/>
          </a:xfrm>
          <a:prstGeom prst="ellipse">
            <a:avLst/>
          </a:prstGeom>
          <a:solidFill>
            <a:srgbClr val="5B7377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4489704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Prescriptions &amp; laboratory reports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41248" y="5093208"/>
            <a:ext cx="128016" cy="128016"/>
          </a:xfrm>
          <a:prstGeom prst="ellipse">
            <a:avLst/>
          </a:prstGeom>
          <a:solidFill>
            <a:srgbClr val="5B7377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5001768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administration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41248" y="5605272"/>
            <a:ext cx="128016" cy="128016"/>
          </a:xfrm>
          <a:prstGeom prst="ellipse">
            <a:avLst/>
          </a:prstGeom>
          <a:solidFill>
            <a:srgbClr val="5B7377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5513832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&amp; reports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870448" y="3977640"/>
            <a:ext cx="548640" cy="5486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977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601968" y="2331720"/>
            <a:ext cx="5074920" cy="3931920"/>
          </a:xfrm>
          <a:prstGeom prst="roundRect">
            <a:avLst>
              <a:gd name="adj" fmla="val 2791"/>
            </a:avLst>
          </a:prstGeom>
          <a:solidFill>
            <a:srgbClr val="0B2E30"/>
          </a:solidFill>
          <a:ln/>
        </p:spPr>
      </p:sp>
      <p:sp>
        <p:nvSpPr>
          <p:cNvPr id="22" name="Text 20"/>
          <p:cNvSpPr/>
          <p:nvPr/>
        </p:nvSpPr>
        <p:spPr>
          <a:xfrm>
            <a:off x="6876288" y="2532888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FOCUS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894576" y="3108960"/>
            <a:ext cx="128016" cy="1280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4" name="Text 22"/>
          <p:cNvSpPr/>
          <p:nvPr/>
        </p:nvSpPr>
        <p:spPr>
          <a:xfrm>
            <a:off x="7150608" y="3008376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symptom understanding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894576" y="3685032"/>
            <a:ext cx="128016" cy="1280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6" name="Text 24"/>
          <p:cNvSpPr/>
          <p:nvPr/>
        </p:nvSpPr>
        <p:spPr>
          <a:xfrm>
            <a:off x="7150608" y="358444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ML-based triage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894576" y="4261104"/>
            <a:ext cx="128016" cy="1280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8" name="Text 26"/>
          <p:cNvSpPr/>
          <p:nvPr/>
        </p:nvSpPr>
        <p:spPr>
          <a:xfrm>
            <a:off x="7150608" y="416052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safety rules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894576" y="4837176"/>
            <a:ext cx="128016" cy="1280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0" name="Text 28"/>
          <p:cNvSpPr/>
          <p:nvPr/>
        </p:nvSpPr>
        <p:spPr>
          <a:xfrm>
            <a:off x="7150608" y="473659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Priority-aware live queue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894576" y="5413248"/>
            <a:ext cx="128016" cy="1280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2" name="Text 30"/>
          <p:cNvSpPr/>
          <p:nvPr/>
        </p:nvSpPr>
        <p:spPr>
          <a:xfrm>
            <a:off x="7150608" y="5312664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 staff–doctor coordination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Digital OPD  ·  Milestone 1 — Initial Progress Review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1024128"/>
          </a:xfrm>
          <a:prstGeom prst="roundRect">
            <a:avLst>
              <a:gd name="adj" fmla="val 8929"/>
            </a:avLst>
          </a:prstGeom>
          <a:solidFill>
            <a:srgbClr val="F4F9F8"/>
          </a:solidFill>
          <a:ln w="12700">
            <a:solidFill>
              <a:srgbClr val="CFE1DF"/>
            </a:solidFill>
            <a:prstDash val="solid"/>
          </a:ln>
          <a:effectLst>
            <a:outerShdw sx="100000" sy="100000" kx="0" ky="0" algn="bl" rotWithShape="0" blurRad="76200" dist="25400" dir="5400000">
              <a:srgbClr val="7A9A97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56232"/>
            <a:ext cx="512064" cy="512064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8562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81328" y="1691640"/>
            <a:ext cx="4251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Digitize patient registration and OPD visit management.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72200" y="1600200"/>
            <a:ext cx="5394960" cy="1024128"/>
          </a:xfrm>
          <a:prstGeom prst="roundRect">
            <a:avLst>
              <a:gd name="adj" fmla="val 8929"/>
            </a:avLst>
          </a:prstGeom>
          <a:solidFill>
            <a:srgbClr val="F4F9F8"/>
          </a:solidFill>
          <a:ln w="12700">
            <a:solidFill>
              <a:srgbClr val="CFE1DF"/>
            </a:solidFill>
            <a:prstDash val="solid"/>
          </a:ln>
          <a:effectLst>
            <a:outerShdw sx="100000" sy="100000" kx="0" ky="0" algn="bl" rotWithShape="0" blurRad="76200" dist="25400" dir="5400000">
              <a:srgbClr val="7A9A97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28232" y="1856232"/>
            <a:ext cx="512064" cy="512064"/>
          </a:xfrm>
          <a:prstGeom prst="ellipse">
            <a:avLst/>
          </a:prstGeom>
          <a:solidFill>
            <a:srgbClr val="0E5B58"/>
          </a:solidFill>
          <a:ln/>
        </p:spPr>
      </p:sp>
      <p:sp>
        <p:nvSpPr>
          <p:cNvPr id="10" name="Text 8"/>
          <p:cNvSpPr/>
          <p:nvPr/>
        </p:nvSpPr>
        <p:spPr>
          <a:xfrm>
            <a:off x="6428232" y="18562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104888" y="1691640"/>
            <a:ext cx="4251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patient symptom information.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2807208"/>
            <a:ext cx="5394960" cy="1024128"/>
          </a:xfrm>
          <a:prstGeom prst="roundRect">
            <a:avLst>
              <a:gd name="adj" fmla="val 8929"/>
            </a:avLst>
          </a:prstGeom>
          <a:solidFill>
            <a:srgbClr val="F4F9F8"/>
          </a:solidFill>
          <a:ln w="12700">
            <a:solidFill>
              <a:srgbClr val="CFE1DF"/>
            </a:solidFill>
            <a:prstDash val="solid"/>
          </a:ln>
          <a:effectLst>
            <a:outerShdw sx="100000" sy="100000" kx="0" ky="0" algn="bl" rotWithShape="0" blurRad="76200" dist="25400" dir="5400000">
              <a:srgbClr val="7A9A97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4672" y="3063240"/>
            <a:ext cx="512064" cy="512064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30632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81328" y="2898648"/>
            <a:ext cx="4251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AI-assisted symptom interaction and extraction.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172200" y="2807208"/>
            <a:ext cx="5394960" cy="1024128"/>
          </a:xfrm>
          <a:prstGeom prst="roundRect">
            <a:avLst>
              <a:gd name="adj" fmla="val 8929"/>
            </a:avLst>
          </a:prstGeom>
          <a:solidFill>
            <a:srgbClr val="F4F9F8"/>
          </a:solidFill>
          <a:ln w="12700">
            <a:solidFill>
              <a:srgbClr val="CFE1DF"/>
            </a:solidFill>
            <a:prstDash val="solid"/>
          </a:ln>
          <a:effectLst>
            <a:outerShdw sx="100000" sy="100000" kx="0" ky="0" algn="bl" rotWithShape="0" blurRad="76200" dist="25400" dir="5400000">
              <a:srgbClr val="7A9A97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28232" y="3063240"/>
            <a:ext cx="512064" cy="512064"/>
          </a:xfrm>
          <a:prstGeom prst="ellipse">
            <a:avLst/>
          </a:prstGeom>
          <a:solidFill>
            <a:srgbClr val="0E5B58"/>
          </a:solidFill>
          <a:ln/>
        </p:spPr>
      </p:sp>
      <p:sp>
        <p:nvSpPr>
          <p:cNvPr id="18" name="Text 16"/>
          <p:cNvSpPr/>
          <p:nvPr/>
        </p:nvSpPr>
        <p:spPr>
          <a:xfrm>
            <a:off x="6428232" y="30632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104888" y="2898648"/>
            <a:ext cx="4251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prototype ML-based preliminary triage model.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4014216"/>
            <a:ext cx="5394960" cy="1024128"/>
          </a:xfrm>
          <a:prstGeom prst="roundRect">
            <a:avLst>
              <a:gd name="adj" fmla="val 8929"/>
            </a:avLst>
          </a:prstGeom>
          <a:solidFill>
            <a:srgbClr val="F4F9F8"/>
          </a:solidFill>
          <a:ln w="12700">
            <a:solidFill>
              <a:srgbClr val="CFE1DF"/>
            </a:solidFill>
            <a:prstDash val="solid"/>
          </a:ln>
          <a:effectLst>
            <a:outerShdw sx="100000" sy="100000" kx="0" ky="0" algn="bl" rotWithShape="0" blurRad="76200" dist="25400" dir="5400000">
              <a:srgbClr val="7A9A97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4672" y="4270248"/>
            <a:ext cx="512064" cy="512064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42702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81328" y="4105656"/>
            <a:ext cx="4251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deterministic safety rules before prioritization.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172200" y="4014216"/>
            <a:ext cx="5394960" cy="1024128"/>
          </a:xfrm>
          <a:prstGeom prst="roundRect">
            <a:avLst>
              <a:gd name="adj" fmla="val 8929"/>
            </a:avLst>
          </a:prstGeom>
          <a:solidFill>
            <a:srgbClr val="F4F9F8"/>
          </a:solidFill>
          <a:ln w="12700">
            <a:solidFill>
              <a:srgbClr val="CFE1DF"/>
            </a:solidFill>
            <a:prstDash val="solid"/>
          </a:ln>
          <a:effectLst>
            <a:outerShdw sx="100000" sy="100000" kx="0" ky="0" algn="bl" rotWithShape="0" blurRad="76200" dist="25400" dir="5400000">
              <a:srgbClr val="7A9A97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28232" y="4270248"/>
            <a:ext cx="512064" cy="512064"/>
          </a:xfrm>
          <a:prstGeom prst="ellipse">
            <a:avLst/>
          </a:prstGeom>
          <a:solidFill>
            <a:srgbClr val="0E5B58"/>
          </a:solidFill>
          <a:ln/>
        </p:spPr>
      </p:sp>
      <p:sp>
        <p:nvSpPr>
          <p:cNvPr id="26" name="Text 24"/>
          <p:cNvSpPr/>
          <p:nvPr/>
        </p:nvSpPr>
        <p:spPr>
          <a:xfrm>
            <a:off x="6428232" y="42702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104888" y="4105656"/>
            <a:ext cx="4251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queue prioritization and realtime OPD coordination.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48640" y="5221224"/>
            <a:ext cx="5394960" cy="1024128"/>
          </a:xfrm>
          <a:prstGeom prst="roundRect">
            <a:avLst>
              <a:gd name="adj" fmla="val 8929"/>
            </a:avLst>
          </a:prstGeom>
          <a:solidFill>
            <a:srgbClr val="F4F9F8"/>
          </a:solidFill>
          <a:ln w="12700">
            <a:solidFill>
              <a:srgbClr val="CFE1DF"/>
            </a:solidFill>
            <a:prstDash val="solid"/>
          </a:ln>
          <a:effectLst>
            <a:outerShdw sx="100000" sy="100000" kx="0" ky="0" algn="bl" rotWithShape="0" blurRad="76200" dist="25400" dir="5400000">
              <a:srgbClr val="7A9A97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04672" y="5477256"/>
            <a:ext cx="512064" cy="512064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30" name="Text 28"/>
          <p:cNvSpPr/>
          <p:nvPr/>
        </p:nvSpPr>
        <p:spPr>
          <a:xfrm>
            <a:off x="804672" y="54772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481328" y="5312664"/>
            <a:ext cx="4251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secure authentication and role-based access.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172200" y="5221224"/>
            <a:ext cx="5394960" cy="1024128"/>
          </a:xfrm>
          <a:prstGeom prst="roundRect">
            <a:avLst>
              <a:gd name="adj" fmla="val 8929"/>
            </a:avLst>
          </a:prstGeom>
          <a:solidFill>
            <a:srgbClr val="F4F9F8"/>
          </a:solidFill>
          <a:ln w="12700">
            <a:solidFill>
              <a:srgbClr val="CFE1DF"/>
            </a:solidFill>
            <a:prstDash val="solid"/>
          </a:ln>
          <a:effectLst>
            <a:outerShdw sx="100000" sy="100000" kx="0" ky="0" algn="bl" rotWithShape="0" blurRad="76200" dist="25400" dir="5400000">
              <a:srgbClr val="7A9A97">
                <a:alpha val="2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28232" y="5477256"/>
            <a:ext cx="512064" cy="512064"/>
          </a:xfrm>
          <a:prstGeom prst="ellipse">
            <a:avLst/>
          </a:prstGeom>
          <a:solidFill>
            <a:srgbClr val="0E5B58"/>
          </a:solidFill>
          <a:ln/>
        </p:spPr>
      </p:sp>
      <p:sp>
        <p:nvSpPr>
          <p:cNvPr id="34" name="Text 32"/>
          <p:cNvSpPr/>
          <p:nvPr/>
        </p:nvSpPr>
        <p:spPr>
          <a:xfrm>
            <a:off x="6428232" y="54772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104888" y="5312664"/>
            <a:ext cx="4251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 foundation for future intelligent OPD services.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Digital OPD  ·  Milestone 1 — Initial Progress Review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Smart OPD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749040" cy="566928"/>
          </a:xfrm>
          <a:prstGeom prst="roundRect">
            <a:avLst>
              <a:gd name="adj" fmla="val 12903"/>
            </a:avLst>
          </a:prstGeom>
          <a:solidFill>
            <a:srgbClr val="EAF3F2"/>
          </a:solidFill>
          <a:ln w="12700">
            <a:solidFill>
              <a:srgbClr val="CFE1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600200"/>
            <a:ext cx="3529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Registration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240280" y="21488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3749040" cy="566928"/>
          </a:xfrm>
          <a:prstGeom prst="roundRect">
            <a:avLst>
              <a:gd name="adj" fmla="val 12903"/>
            </a:avLst>
          </a:prstGeom>
          <a:solidFill>
            <a:srgbClr val="EAF3F2"/>
          </a:solidFill>
          <a:ln w="12700">
            <a:solidFill>
              <a:srgbClr val="CFE1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331720"/>
            <a:ext cx="3529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 Visit Creation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240280" y="28803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3749040" cy="566928"/>
          </a:xfrm>
          <a:prstGeom prst="roundRect">
            <a:avLst>
              <a:gd name="adj" fmla="val 12903"/>
            </a:avLst>
          </a:prstGeom>
          <a:solidFill>
            <a:srgbClr val="EAF3F2"/>
          </a:solidFill>
          <a:ln w="12700">
            <a:solidFill>
              <a:srgbClr val="CFE1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3063240"/>
            <a:ext cx="3529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Collection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240280" y="36118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3749040" cy="566928"/>
          </a:xfrm>
          <a:prstGeom prst="roundRect">
            <a:avLst>
              <a:gd name="adj" fmla="val 12903"/>
            </a:avLst>
          </a:prstGeom>
          <a:solidFill>
            <a:srgbClr val="0E7C7B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794760"/>
            <a:ext cx="3529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Symptom Understanding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240280" y="434340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4526280"/>
            <a:ext cx="3749040" cy="566928"/>
          </a:xfrm>
          <a:prstGeom prst="roundRect">
            <a:avLst>
              <a:gd name="adj" fmla="val 12903"/>
            </a:avLst>
          </a:prstGeom>
          <a:solidFill>
            <a:srgbClr val="EAF3F2"/>
          </a:solidFill>
          <a:ln w="12700">
            <a:solidFill>
              <a:srgbClr val="CFE1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4526280"/>
            <a:ext cx="3529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Symptoms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240280" y="50749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5257800"/>
            <a:ext cx="3749040" cy="566928"/>
          </a:xfrm>
          <a:prstGeom prst="roundRect">
            <a:avLst>
              <a:gd name="adj" fmla="val 12903"/>
            </a:avLst>
          </a:prstGeom>
          <a:solidFill>
            <a:srgbClr val="0E7C7B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5257800"/>
            <a:ext cx="3529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Safety-Rule Evaluation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0" y="1600200"/>
            <a:ext cx="3749040" cy="566928"/>
          </a:xfrm>
          <a:prstGeom prst="roundRect">
            <a:avLst>
              <a:gd name="adj" fmla="val 12903"/>
            </a:avLst>
          </a:prstGeom>
          <a:solidFill>
            <a:srgbClr val="0E7C7B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1728" y="1600200"/>
            <a:ext cx="3529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Preliminary Triage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263640" y="21488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2331720"/>
            <a:ext cx="3749040" cy="566928"/>
          </a:xfrm>
          <a:prstGeom prst="roundRect">
            <a:avLst>
              <a:gd name="adj" fmla="val 12903"/>
            </a:avLst>
          </a:prstGeom>
          <a:solidFill>
            <a:srgbClr val="EAF3F2"/>
          </a:solidFill>
          <a:ln w="12700">
            <a:solidFill>
              <a:srgbClr val="CFE1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1728" y="2331720"/>
            <a:ext cx="3529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Priority-Aware Queue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263640" y="28803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3063240"/>
            <a:ext cx="3749040" cy="566928"/>
          </a:xfrm>
          <a:prstGeom prst="roundRect">
            <a:avLst>
              <a:gd name="adj" fmla="val 12903"/>
            </a:avLst>
          </a:prstGeom>
          <a:solidFill>
            <a:srgbClr val="EAF3F2"/>
          </a:solidFill>
          <a:ln w="12700">
            <a:solidFill>
              <a:srgbClr val="CFE1D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1728" y="3063240"/>
            <a:ext cx="3529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 Staff / Doctor Updates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263640" y="36118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0" y="3794760"/>
            <a:ext cx="3749040" cy="566928"/>
          </a:xfrm>
          <a:prstGeom prst="roundRect">
            <a:avLst>
              <a:gd name="adj" fmla="val 12903"/>
            </a:avLst>
          </a:prstGeom>
          <a:solidFill>
            <a:srgbClr val="EAF3F2"/>
          </a:solidFill>
          <a:ln w="12700">
            <a:solidFill>
              <a:srgbClr val="CFE1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81728" y="3794760"/>
            <a:ext cx="3529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Consultation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263640" y="434340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0" y="4526280"/>
            <a:ext cx="3749040" cy="566928"/>
          </a:xfrm>
          <a:prstGeom prst="roundRect">
            <a:avLst>
              <a:gd name="adj" fmla="val 12903"/>
            </a:avLst>
          </a:prstGeom>
          <a:solidFill>
            <a:srgbClr val="EAF3F2"/>
          </a:solidFill>
          <a:ln w="12700">
            <a:solidFill>
              <a:srgbClr val="CFE1D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81728" y="4526280"/>
            <a:ext cx="3529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Completion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4315968" y="5074920"/>
            <a:ext cx="457200" cy="164592"/>
          </a:xfrm>
          <a:prstGeom prst="rightArrow">
            <a:avLst/>
          </a:prstGeom>
          <a:solidFill>
            <a:srgbClr val="F2A541"/>
          </a:solidFill>
          <a:ln/>
        </p:spPr>
      </p:sp>
      <p:sp>
        <p:nvSpPr>
          <p:cNvPr id="36" name="Shape 34"/>
          <p:cNvSpPr/>
          <p:nvPr/>
        </p:nvSpPr>
        <p:spPr>
          <a:xfrm>
            <a:off x="8732520" y="1600200"/>
            <a:ext cx="2907792" cy="4572000"/>
          </a:xfrm>
          <a:prstGeom prst="roundRect">
            <a:avLst>
              <a:gd name="adj" fmla="val 3774"/>
            </a:avLst>
          </a:prstGeom>
          <a:solidFill>
            <a:srgbClr val="0B2E30"/>
          </a:solidFill>
          <a:ln/>
        </p:spPr>
      </p:sp>
      <p:sp>
        <p:nvSpPr>
          <p:cNvPr id="37" name="Shape 35"/>
          <p:cNvSpPr/>
          <p:nvPr/>
        </p:nvSpPr>
        <p:spPr>
          <a:xfrm>
            <a:off x="9866376" y="1874520"/>
            <a:ext cx="640080" cy="640080"/>
          </a:xfrm>
          <a:prstGeom prst="ellipse">
            <a:avLst/>
          </a:prstGeom>
          <a:solidFill>
            <a:srgbClr val="0E7C7B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866376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8915400" y="2697480"/>
            <a:ext cx="2542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Boundary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9006840" y="3108960"/>
            <a:ext cx="2359152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does NOT diagnose the patient.
</a:t>
            </a:r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FE1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provides preliminary triage / decision support only.
</a:t>
            </a:r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FE1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clinical decision remains with the authorized healthcare professional.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Digital OPD  ·  Milestone 1 — Initial Progress Review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7406640" cy="658368"/>
          </a:xfrm>
          <a:prstGeom prst="roundRect">
            <a:avLst>
              <a:gd name="adj" fmla="val 13889"/>
            </a:avLst>
          </a:prstGeom>
          <a:solidFill>
            <a:srgbClr val="0E7C7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4592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</a:t>
            </a:r>
            <a:pPr indent="0" marL="0">
              <a:buNone/>
            </a:pPr>
            <a:r>
              <a:rPr lang="en-US" sz="120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React + Vite + Tailwind CSS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114800" y="2286000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487168"/>
            <a:ext cx="7406640" cy="658368"/>
          </a:xfrm>
          <a:prstGeom prst="roundRect">
            <a:avLst>
              <a:gd name="adj" fmla="val 13889"/>
            </a:avLst>
          </a:prstGeom>
          <a:solidFill>
            <a:srgbClr val="0E5B5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487168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pPr indent="0" marL="0">
              <a:buNone/>
            </a:pPr>
            <a:r>
              <a:rPr lang="en-US" sz="120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API Layer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0" y="3127248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401568"/>
            <a:ext cx="2286000" cy="1481328"/>
          </a:xfrm>
          <a:prstGeom prst="roundRect">
            <a:avLst>
              <a:gd name="adj" fmla="val 6173"/>
            </a:avLst>
          </a:prstGeom>
          <a:solidFill>
            <a:srgbClr val="0B2E30"/>
          </a:solidFill>
          <a:ln w="12700">
            <a:solidFill>
              <a:srgbClr val="0E5B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602736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3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PostGIS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85800" y="427024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geospatial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08960" y="3401568"/>
            <a:ext cx="2286000" cy="1481328"/>
          </a:xfrm>
          <a:prstGeom prst="roundRect">
            <a:avLst>
              <a:gd name="adj" fmla="val 6173"/>
            </a:avLst>
          </a:prstGeom>
          <a:solidFill>
            <a:srgbClr val="0B2E30"/>
          </a:solidFill>
          <a:ln w="12700">
            <a:solidFill>
              <a:srgbClr val="0E5B5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3602736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246120" y="427024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language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0" y="3401568"/>
            <a:ext cx="2286000" cy="1481328"/>
          </a:xfrm>
          <a:prstGeom prst="roundRect">
            <a:avLst>
              <a:gd name="adj" fmla="val 6173"/>
            </a:avLst>
          </a:prstGeom>
          <a:solidFill>
            <a:srgbClr val="0B2E30"/>
          </a:solidFill>
          <a:ln w="12700">
            <a:solidFill>
              <a:srgbClr val="0E5B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06440" y="3602736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FastAPI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806440" y="427024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triage model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691640" y="3145536"/>
            <a:ext cx="0" cy="256032"/>
          </a:xfrm>
          <a:prstGeom prst="line">
            <a:avLst/>
          </a:prstGeom>
          <a:noFill/>
          <a:ln w="19050">
            <a:solidFill>
              <a:srgbClr val="CFE1D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51960" y="3145536"/>
            <a:ext cx="0" cy="256032"/>
          </a:xfrm>
          <a:prstGeom prst="line">
            <a:avLst/>
          </a:prstGeom>
          <a:noFill/>
          <a:ln w="19050">
            <a:solidFill>
              <a:srgbClr val="CFE1D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12280" y="3145536"/>
            <a:ext cx="0" cy="256032"/>
          </a:xfrm>
          <a:prstGeom prst="line">
            <a:avLst/>
          </a:prstGeom>
          <a:noFill/>
          <a:ln w="19050">
            <a:solidFill>
              <a:srgbClr val="CFE1D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21040" y="1645920"/>
            <a:ext cx="3319272" cy="2395728"/>
          </a:xfrm>
          <a:prstGeom prst="roundRect">
            <a:avLst>
              <a:gd name="adj" fmla="val 4580"/>
            </a:avLst>
          </a:prstGeom>
          <a:solidFill>
            <a:srgbClr val="F4F9F8"/>
          </a:solidFill>
          <a:ln w="12700">
            <a:solidFill>
              <a:srgbClr val="CFE1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49640" y="1783080"/>
            <a:ext cx="2862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E5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595360" y="2148840"/>
            <a:ext cx="2816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50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595360" y="2514600"/>
            <a:ext cx="2816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50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595360" y="2880360"/>
            <a:ext cx="2816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50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595360" y="3246120"/>
            <a:ext cx="2816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50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595360" y="3611880"/>
            <a:ext cx="2816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50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321040" y="4224528"/>
            <a:ext cx="3319272" cy="1947672"/>
          </a:xfrm>
          <a:prstGeom prst="roundRect">
            <a:avLst>
              <a:gd name="adj" fmla="val 5634"/>
            </a:avLst>
          </a:prstGeom>
          <a:solidFill>
            <a:srgbClr val="0B2E30"/>
          </a:solidFill>
          <a:ln/>
        </p:spPr>
      </p:sp>
      <p:sp>
        <p:nvSpPr>
          <p:cNvPr id="30" name="Text 28"/>
          <p:cNvSpPr/>
          <p:nvPr/>
        </p:nvSpPr>
        <p:spPr>
          <a:xfrm>
            <a:off x="8549640" y="4389120"/>
            <a:ext cx="2862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 LAYER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549640" y="4709160"/>
            <a:ext cx="28620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Socket.io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8549640" y="5257800"/>
            <a:ext cx="28620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CFE1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realtime layer for live queue and staff/doctor status updates.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Digital OPD  ·  Milestone 1 — Initial Progress Review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SO FAR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1 — Initial System Foundation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3538728" cy="2121408"/>
          </a:xfrm>
          <a:prstGeom prst="roundRect">
            <a:avLst>
              <a:gd name="adj" fmla="val 4310"/>
            </a:avLst>
          </a:prstGeom>
          <a:solidFill>
            <a:srgbClr val="F4F9F8"/>
          </a:solidFill>
          <a:ln w="12700">
            <a:solidFill>
              <a:srgbClr val="CFE1DF"/>
            </a:solidFill>
            <a:prstDash val="solid"/>
          </a:ln>
          <a:effectLst>
            <a:outerShdw sx="100000" sy="100000" kx="0" ky="0" algn="bl" rotWithShape="0" blurRad="76200" dist="25400" dir="5400000">
              <a:srgbClr val="7A9A97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792224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792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792224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Architecture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41248" y="2359152"/>
            <a:ext cx="2990088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Smart OPD workflow defined</a:t>
            </a:r>
            <a:endParaRPr lang="en-US" sz="1100" dirty="0"/>
          </a:p>
          <a:p>
            <a:pPr marL="152400" indent="-1524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components &amp; data flow identified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25112" y="1572768"/>
            <a:ext cx="3538728" cy="2121408"/>
          </a:xfrm>
          <a:prstGeom prst="roundRect">
            <a:avLst>
              <a:gd name="adj" fmla="val 4310"/>
            </a:avLst>
          </a:prstGeom>
          <a:solidFill>
            <a:srgbClr val="F4F9F8"/>
          </a:solidFill>
          <a:ln w="12700">
            <a:solidFill>
              <a:srgbClr val="CFE1DF"/>
            </a:solidFill>
            <a:prstDash val="solid"/>
          </a:ln>
          <a:effectLst>
            <a:outerShdw sx="100000" sy="100000" kx="0" ky="0" algn="bl" rotWithShape="0" blurRad="76200" dist="25400" dir="5400000">
              <a:srgbClr val="7A9A97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44568" y="1792224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1" name="Text 9"/>
          <p:cNvSpPr/>
          <p:nvPr/>
        </p:nvSpPr>
        <p:spPr>
          <a:xfrm>
            <a:off x="4544568" y="1792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02352" y="1792224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Minimal Frontend Design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617720" y="2359152"/>
            <a:ext cx="2990088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frontend prototype developed</a:t>
            </a:r>
            <a:endParaRPr lang="en-US" sz="1100" dirty="0"/>
          </a:p>
          <a:p>
            <a:pPr marL="152400" indent="-1524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OPD workflow &amp; interface established</a:t>
            </a:r>
            <a:endParaRPr lang="en-US" sz="1100" dirty="0"/>
          </a:p>
          <a:p>
            <a:pPr marL="152400" indent="-1524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as an initial / minimal prototype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01584" y="1572768"/>
            <a:ext cx="3538728" cy="2121408"/>
          </a:xfrm>
          <a:prstGeom prst="roundRect">
            <a:avLst>
              <a:gd name="adj" fmla="val 4310"/>
            </a:avLst>
          </a:prstGeom>
          <a:solidFill>
            <a:srgbClr val="F4F9F8"/>
          </a:solidFill>
          <a:ln w="12700">
            <a:solidFill>
              <a:srgbClr val="CFE1DF"/>
            </a:solidFill>
            <a:prstDash val="solid"/>
          </a:ln>
          <a:effectLst>
            <a:outerShdw sx="100000" sy="100000" kx="0" ky="0" algn="bl" rotWithShape="0" blurRad="76200" dist="25400" dir="5400000">
              <a:srgbClr val="7A9A97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1040" y="1792224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1792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878824" y="1792224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Backend Foundation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94192" y="2359152"/>
            <a:ext cx="2990088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backend components developed</a:t>
            </a:r>
            <a:endParaRPr lang="en-US" sz="1100" dirty="0"/>
          </a:p>
          <a:p>
            <a:pPr marL="152400" indent="-1524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foundation for future OPD APIs</a:t>
            </a:r>
            <a:endParaRPr lang="en-US" sz="1100" dirty="0"/>
          </a:p>
          <a:p>
            <a:pPr marL="152400" indent="-1524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backend not yet finished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913632"/>
            <a:ext cx="3538728" cy="2121408"/>
          </a:xfrm>
          <a:prstGeom prst="roundRect">
            <a:avLst>
              <a:gd name="adj" fmla="val 4310"/>
            </a:avLst>
          </a:prstGeom>
          <a:solidFill>
            <a:srgbClr val="F4F9F8"/>
          </a:solidFill>
          <a:ln w="12700">
            <a:solidFill>
              <a:srgbClr val="CFE1DF"/>
            </a:solidFill>
            <a:prstDash val="solid"/>
          </a:ln>
          <a:effectLst>
            <a:outerShdw sx="100000" sy="100000" kx="0" ky="0" algn="bl" rotWithShape="0" blurRad="76200" dist="25400" dir="5400000">
              <a:srgbClr val="7A9A97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68096" y="4133088"/>
            <a:ext cx="457200" cy="457200"/>
          </a:xfrm>
          <a:prstGeom prst="ellipse">
            <a:avLst/>
          </a:prstGeom>
          <a:solidFill>
            <a:srgbClr val="0E5B58"/>
          </a:solidFill>
          <a:ln/>
        </p:spPr>
      </p:sp>
      <p:sp>
        <p:nvSpPr>
          <p:cNvPr id="21" name="Text 19"/>
          <p:cNvSpPr/>
          <p:nvPr/>
        </p:nvSpPr>
        <p:spPr>
          <a:xfrm>
            <a:off x="768096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25880" y="4133088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/ ML Approach Exploration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41248" y="4700016"/>
            <a:ext cx="2990088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symptom workflow explored</a:t>
            </a:r>
            <a:endParaRPr lang="en-US" sz="1100" dirty="0"/>
          </a:p>
          <a:p>
            <a:pPr marL="152400" indent="-1524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ML triage approach defined</a:t>
            </a:r>
            <a:endParaRPr lang="en-US" sz="1100" dirty="0"/>
          </a:p>
          <a:p>
            <a:pPr marL="152400" indent="-1524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Safety-rule layer identified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25112" y="3913632"/>
            <a:ext cx="3538728" cy="2121408"/>
          </a:xfrm>
          <a:prstGeom prst="roundRect">
            <a:avLst>
              <a:gd name="adj" fmla="val 4310"/>
            </a:avLst>
          </a:prstGeom>
          <a:solidFill>
            <a:srgbClr val="F4F9F8"/>
          </a:solidFill>
          <a:ln w="12700">
            <a:solidFill>
              <a:srgbClr val="CFE1DF"/>
            </a:solidFill>
            <a:prstDash val="solid"/>
          </a:ln>
          <a:effectLst>
            <a:outerShdw sx="100000" sy="100000" kx="0" ky="0" algn="bl" rotWithShape="0" blurRad="76200" dist="25400" dir="5400000">
              <a:srgbClr val="7A9A97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44568" y="4133088"/>
            <a:ext cx="457200" cy="457200"/>
          </a:xfrm>
          <a:prstGeom prst="ellipse">
            <a:avLst/>
          </a:prstGeom>
          <a:solidFill>
            <a:srgbClr val="0E5B58"/>
          </a:solidFill>
          <a:ln/>
        </p:spPr>
      </p:sp>
      <p:sp>
        <p:nvSpPr>
          <p:cNvPr id="26" name="Text 24"/>
          <p:cNvSpPr/>
          <p:nvPr/>
        </p:nvSpPr>
        <p:spPr>
          <a:xfrm>
            <a:off x="4544568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02352" y="4133088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Exploration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617720" y="4700016"/>
            <a:ext cx="2990088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symptom datasets explored</a:t>
            </a:r>
            <a:endParaRPr lang="en-US" sz="1100" dirty="0"/>
          </a:p>
          <a:p>
            <a:pPr marL="152400" indent="-1524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Examined for triage-model suitability</a:t>
            </a:r>
            <a:endParaRPr lang="en-US" sz="1100" dirty="0"/>
          </a:p>
          <a:p>
            <a:pPr marL="152400" indent="-1524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final model trained yet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01584" y="3913632"/>
            <a:ext cx="3538728" cy="2121408"/>
          </a:xfrm>
          <a:prstGeom prst="roundRect">
            <a:avLst>
              <a:gd name="adj" fmla="val 4310"/>
            </a:avLst>
          </a:prstGeom>
          <a:solidFill>
            <a:srgbClr val="F4F9F8"/>
          </a:solidFill>
          <a:ln w="12700">
            <a:solidFill>
              <a:srgbClr val="CFE1DF"/>
            </a:solidFill>
            <a:prstDash val="solid"/>
          </a:ln>
          <a:effectLst>
            <a:outerShdw sx="100000" sy="100000" kx="0" ky="0" algn="bl" rotWithShape="0" blurRad="76200" dist="25400" dir="5400000">
              <a:srgbClr val="7A9A97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21040" y="4133088"/>
            <a:ext cx="457200" cy="457200"/>
          </a:xfrm>
          <a:prstGeom prst="ellipse">
            <a:avLst/>
          </a:prstGeom>
          <a:solidFill>
            <a:srgbClr val="0E5B58"/>
          </a:solidFill>
          <a:ln/>
        </p:spPr>
      </p:sp>
      <p:sp>
        <p:nvSpPr>
          <p:cNvPr id="31" name="Text 29"/>
          <p:cNvSpPr/>
          <p:nvPr/>
        </p:nvSpPr>
        <p:spPr>
          <a:xfrm>
            <a:off x="8321040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878824" y="4133088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Existing-System Research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394192" y="4700016"/>
            <a:ext cx="2990088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ORS / eHospital ecosystem studied</a:t>
            </a:r>
            <a:endParaRPr lang="en-US" sz="1100" dirty="0"/>
          </a:p>
          <a:p>
            <a:pPr marL="152400" indent="-1524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OPD capabilities analysed</a:t>
            </a:r>
            <a:endParaRPr lang="en-US" sz="1100" dirty="0"/>
          </a:p>
          <a:p>
            <a:pPr marL="152400" indent="-1524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gap &amp; differentiation identified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Digital OPD  ·  Milestone 1 — Initial Progress Review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AI/ML &amp; Dataset Exploration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429000" cy="548640"/>
          </a:xfrm>
          <a:prstGeom prst="roundRect">
            <a:avLst>
              <a:gd name="adj" fmla="val 13333"/>
            </a:avLst>
          </a:prstGeom>
          <a:solidFill>
            <a:srgbClr val="EAF3F2"/>
          </a:solidFill>
          <a:ln w="12700">
            <a:solidFill>
              <a:srgbClr val="CFE1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645920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/ Symptom Datasets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080260" y="217627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359152"/>
            <a:ext cx="3429000" cy="548640"/>
          </a:xfrm>
          <a:prstGeom prst="roundRect">
            <a:avLst>
              <a:gd name="adj" fmla="val 13333"/>
            </a:avLst>
          </a:prstGeom>
          <a:solidFill>
            <a:srgbClr val="EAF3F2"/>
          </a:solidFill>
          <a:ln w="12700">
            <a:solidFill>
              <a:srgbClr val="CFE1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359152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Exploration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080260" y="288950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3072384"/>
            <a:ext cx="3429000" cy="548640"/>
          </a:xfrm>
          <a:prstGeom prst="roundRect">
            <a:avLst>
              <a:gd name="adj" fmla="val 13333"/>
            </a:avLst>
          </a:prstGeom>
          <a:solidFill>
            <a:srgbClr val="EAF3F2"/>
          </a:solidFill>
          <a:ln w="12700">
            <a:solidFill>
              <a:srgbClr val="CFE1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3072384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&amp; Label Analysis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080260" y="360273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785616"/>
            <a:ext cx="3429000" cy="548640"/>
          </a:xfrm>
          <a:prstGeom prst="roundRect">
            <a:avLst>
              <a:gd name="adj" fmla="val 13333"/>
            </a:avLst>
          </a:prstGeom>
          <a:solidFill>
            <a:srgbClr val="EAF3F2"/>
          </a:solidFill>
          <a:ln w="12700">
            <a:solidFill>
              <a:srgbClr val="CFE1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785616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Strategy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080260" y="431596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4498848"/>
            <a:ext cx="3429000" cy="548640"/>
          </a:xfrm>
          <a:prstGeom prst="roundRect">
            <a:avLst>
              <a:gd name="adj" fmla="val 13333"/>
            </a:avLst>
          </a:prstGeom>
          <a:solidFill>
            <a:srgbClr val="EAF3F2"/>
          </a:solidFill>
          <a:ln w="12700">
            <a:solidFill>
              <a:srgbClr val="CFE1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4498848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ML Models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080260" y="502920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5212080"/>
            <a:ext cx="3429000" cy="548640"/>
          </a:xfrm>
          <a:prstGeom prst="roundRect">
            <a:avLst>
              <a:gd name="adj" fmla="val 13333"/>
            </a:avLst>
          </a:prstGeom>
          <a:solidFill>
            <a:srgbClr val="0E7C7B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5212080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Triage Model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434840" y="1645920"/>
            <a:ext cx="7205472" cy="1965960"/>
          </a:xfrm>
          <a:prstGeom prst="roundRect">
            <a:avLst>
              <a:gd name="adj" fmla="val 5581"/>
            </a:avLst>
          </a:prstGeom>
          <a:solidFill>
            <a:srgbClr val="F4F9F8"/>
          </a:solidFill>
          <a:ln w="12700">
            <a:solidFill>
              <a:srgbClr val="CFE1D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90872" y="1783080"/>
            <a:ext cx="6693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E5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EXPLORED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90872" y="2121408"/>
            <a:ext cx="1229868" cy="384048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/>
        </p:spPr>
      </p:sp>
      <p:sp>
        <p:nvSpPr>
          <p:cNvPr id="24" name="Text 22"/>
          <p:cNvSpPr/>
          <p:nvPr/>
        </p:nvSpPr>
        <p:spPr>
          <a:xfrm>
            <a:off x="4690872" y="2121408"/>
            <a:ext cx="12298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MIMIC-IV-ED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67044" y="2121408"/>
            <a:ext cx="1664208" cy="384048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/>
        </p:spPr>
      </p:sp>
      <p:sp>
        <p:nvSpPr>
          <p:cNvPr id="26" name="Text 24"/>
          <p:cNvSpPr/>
          <p:nvPr/>
        </p:nvSpPr>
        <p:spPr>
          <a:xfrm>
            <a:off x="6067044" y="2121408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MIMIC-IV-ED Demo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877556" y="2121408"/>
            <a:ext cx="1577340" cy="384048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/>
        </p:spPr>
      </p:sp>
      <p:sp>
        <p:nvSpPr>
          <p:cNvPr id="28" name="Text 26"/>
          <p:cNvSpPr/>
          <p:nvPr/>
        </p:nvSpPr>
        <p:spPr>
          <a:xfrm>
            <a:off x="7877556" y="2121408"/>
            <a:ext cx="15773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Symptom2Disease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601200" y="2121408"/>
            <a:ext cx="882396" cy="384048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/>
        </p:spPr>
      </p:sp>
      <p:sp>
        <p:nvSpPr>
          <p:cNvPr id="30" name="Text 28"/>
          <p:cNvSpPr/>
          <p:nvPr/>
        </p:nvSpPr>
        <p:spPr>
          <a:xfrm>
            <a:off x="9601200" y="2121408"/>
            <a:ext cx="8823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MedQuAD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0629900" y="2121408"/>
            <a:ext cx="1056132" cy="384048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/>
        </p:spPr>
      </p:sp>
      <p:sp>
        <p:nvSpPr>
          <p:cNvPr id="32" name="Text 30"/>
          <p:cNvSpPr/>
          <p:nvPr/>
        </p:nvSpPr>
        <p:spPr>
          <a:xfrm>
            <a:off x="10629900" y="2121408"/>
            <a:ext cx="10561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MedDialog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690872" y="2670048"/>
            <a:ext cx="66934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Explored for suitability; dataset selection in progress. Purpose: identify suitable data to train and evaluate a prototype model for preliminary OPD triage prioritization.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434840" y="3767328"/>
            <a:ext cx="3456432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CFE1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90872" y="39319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E5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MODELS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690872" y="4334256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Logistic Regression
</a:t>
            </a:r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B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(text)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4690872" y="4901184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
</a:t>
            </a:r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B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consideration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4690872" y="5468112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
</a:t>
            </a:r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B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consideration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4690872" y="57607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· served via FastAPI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074152" y="3767328"/>
            <a:ext cx="3566160" cy="2377440"/>
          </a:xfrm>
          <a:prstGeom prst="roundRect">
            <a:avLst>
              <a:gd name="adj" fmla="val 4615"/>
            </a:avLst>
          </a:prstGeom>
          <a:solidFill>
            <a:srgbClr val="0B2E30"/>
          </a:solidFill>
          <a:ln/>
        </p:spPr>
      </p:sp>
      <p:sp>
        <p:nvSpPr>
          <p:cNvPr id="41" name="Text 39"/>
          <p:cNvSpPr/>
          <p:nvPr/>
        </p:nvSpPr>
        <p:spPr>
          <a:xfrm>
            <a:off x="8330184" y="3931920"/>
            <a:ext cx="3054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TARGET (PRIORITY)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330184" y="4315968"/>
            <a:ext cx="1463040" cy="310896"/>
          </a:xfrm>
          <a:prstGeom prst="roundRect">
            <a:avLst>
              <a:gd name="adj" fmla="val 14706"/>
            </a:avLst>
          </a:prstGeom>
          <a:solidFill>
            <a:srgbClr val="D64550"/>
          </a:solidFill>
          <a:ln/>
        </p:spPr>
      </p:sp>
      <p:sp>
        <p:nvSpPr>
          <p:cNvPr id="43" name="Text 41"/>
          <p:cNvSpPr/>
          <p:nvPr/>
        </p:nvSpPr>
        <p:spPr>
          <a:xfrm>
            <a:off x="8330184" y="431596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8330184" y="4700016"/>
            <a:ext cx="1463040" cy="310896"/>
          </a:xfrm>
          <a:prstGeom prst="roundRect">
            <a:avLst>
              <a:gd name="adj" fmla="val 14706"/>
            </a:avLst>
          </a:prstGeom>
          <a:solidFill>
            <a:srgbClr val="E8A13A"/>
          </a:solidFill>
          <a:ln/>
        </p:spPr>
      </p:sp>
      <p:sp>
        <p:nvSpPr>
          <p:cNvPr id="45" name="Text 43"/>
          <p:cNvSpPr/>
          <p:nvPr/>
        </p:nvSpPr>
        <p:spPr>
          <a:xfrm>
            <a:off x="8330184" y="470001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8330184" y="5084064"/>
            <a:ext cx="1463040" cy="310896"/>
          </a:xfrm>
          <a:prstGeom prst="roundRect">
            <a:avLst>
              <a:gd name="adj" fmla="val 14706"/>
            </a:avLst>
          </a:prstGeom>
          <a:solidFill>
            <a:srgbClr val="2E9E6B"/>
          </a:solidFill>
          <a:ln/>
        </p:spPr>
      </p:sp>
      <p:sp>
        <p:nvSpPr>
          <p:cNvPr id="47" name="Text 45"/>
          <p:cNvSpPr/>
          <p:nvPr/>
        </p:nvSpPr>
        <p:spPr>
          <a:xfrm>
            <a:off x="8330184" y="508406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9902952" y="4315968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FE1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priority — not a medical diagnosis.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8330184" y="5486400"/>
            <a:ext cx="30540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b="1" i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accuracy or performance results yet — the model has not been trained.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Digital OPD  ·  Milestone 1 — Initial Progress Review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REVIEW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Status &amp; Next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572000"/>
          </a:xfrm>
          <a:prstGeom prst="roundRect">
            <a:avLst>
              <a:gd name="adj" fmla="val 2400"/>
            </a:avLst>
          </a:prstGeom>
          <a:solidFill>
            <a:srgbClr val="F4F9F8"/>
          </a:solidFill>
          <a:ln w="12700">
            <a:solidFill>
              <a:srgbClr val="CFE1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8308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/ ACHIEVED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276856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2E9E6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768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88720" y="221284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project architecture defined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2811780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2E9E6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8117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88720" y="274777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frontend prototype developed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346704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2E9E6B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3467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88720" y="328269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backend foundation developed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3881628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2E9E6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8816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88720" y="381762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workflow explored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4416552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2E9E6B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4165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88720" y="435254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datasets explored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22960" y="4951476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2E9E6B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9514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88720" y="488746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digital OPD systems researched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22960" y="5486400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2E9E6B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4864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88720" y="542239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system direction established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263640" y="1600200"/>
            <a:ext cx="5376672" cy="4572000"/>
          </a:xfrm>
          <a:prstGeom prst="roundRect">
            <a:avLst>
              <a:gd name="adj" fmla="val 2400"/>
            </a:avLst>
          </a:prstGeom>
          <a:solidFill>
            <a:srgbClr val="0B2E30"/>
          </a:solidFill>
          <a:ln/>
        </p:spPr>
      </p:sp>
      <p:sp>
        <p:nvSpPr>
          <p:cNvPr id="28" name="Text 26"/>
          <p:cNvSpPr/>
          <p:nvPr/>
        </p:nvSpPr>
        <p:spPr>
          <a:xfrm>
            <a:off x="6537960" y="1783080"/>
            <a:ext cx="4828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MILESTONE  ·  FUTURE WORK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537960" y="219456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30568" y="2194560"/>
            <a:ext cx="4553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database implementation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37960" y="2578608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30568" y="2578608"/>
            <a:ext cx="4553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authentication &amp; authorization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537960" y="2962656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830568" y="2962656"/>
            <a:ext cx="4553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complete backend APIs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537960" y="3346704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830568" y="3346704"/>
            <a:ext cx="4553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symptom pipeline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537960" y="3730752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830568" y="3730752"/>
            <a:ext cx="4553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&amp; preprocess selected dataset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537960" y="411480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830568" y="4114800"/>
            <a:ext cx="4553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evaluate ML model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537960" y="4498848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830568" y="4498848"/>
            <a:ext cx="4553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safety-rule engine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537960" y="4882896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830568" y="4882896"/>
            <a:ext cx="4553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realtime queue management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537960" y="5266944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830568" y="5266944"/>
            <a:ext cx="4553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frontend with backend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537960" y="5650992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830568" y="5650992"/>
            <a:ext cx="4553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validation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Digital OPD  ·  Milestone 1 — Initial Progress Review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E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914400"/>
            <a:ext cx="2926080" cy="2926080"/>
          </a:xfrm>
          <a:prstGeom prst="ellipse">
            <a:avLst/>
          </a:prstGeom>
          <a:solidFill>
            <a:srgbClr val="0E7C7B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5120640"/>
            <a:ext cx="4114800" cy="2743200"/>
          </a:xfrm>
          <a:prstGeom prst="roundRect">
            <a:avLst>
              <a:gd name="adj" fmla="val 13333"/>
            </a:avLst>
          </a:prstGeom>
          <a:solidFill>
            <a:srgbClr val="2EC4B6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Direction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FE1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digital OPD systems already handle registration, appointments, records and hospital operations. Our project integrates an intelligent layer into a focused OPD workflow.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5120640" cy="548640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5146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OPD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186684"/>
            <a:ext cx="5120640" cy="548640"/>
          </a:xfrm>
          <a:prstGeom prst="roundRect">
            <a:avLst>
              <a:gd name="adj" fmla="val 50000"/>
            </a:avLst>
          </a:prstGeom>
          <a:solidFill>
            <a:srgbClr val="10403F"/>
          </a:solidFill>
          <a:ln w="12700">
            <a:solidFill>
              <a:srgbClr val="1C52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18668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Symptoms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0352" y="3008376"/>
            <a:ext cx="512064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858768"/>
            <a:ext cx="5120640" cy="548640"/>
          </a:xfrm>
          <a:prstGeom prst="roundRect">
            <a:avLst>
              <a:gd name="adj" fmla="val 50000"/>
            </a:avLst>
          </a:prstGeom>
          <a:solidFill>
            <a:srgbClr val="10403F"/>
          </a:solidFill>
          <a:ln w="12700">
            <a:solidFill>
              <a:srgbClr val="1C52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85876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Preliminary Triage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0352" y="3680460"/>
            <a:ext cx="512064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530852"/>
            <a:ext cx="5120640" cy="548640"/>
          </a:xfrm>
          <a:prstGeom prst="roundRect">
            <a:avLst>
              <a:gd name="adj" fmla="val 50000"/>
            </a:avLst>
          </a:prstGeom>
          <a:solidFill>
            <a:srgbClr val="10403F"/>
          </a:solidFill>
          <a:ln w="12700">
            <a:solidFill>
              <a:srgbClr val="1C52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53085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Rules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0352" y="4352544"/>
            <a:ext cx="512064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5202936"/>
            <a:ext cx="5120640" cy="548640"/>
          </a:xfrm>
          <a:prstGeom prst="roundRect">
            <a:avLst>
              <a:gd name="adj" fmla="val 50000"/>
            </a:avLst>
          </a:prstGeom>
          <a:solidFill>
            <a:srgbClr val="10403F"/>
          </a:solidFill>
          <a:ln w="12700">
            <a:solidFill>
              <a:srgbClr val="1C52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5202936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 Queue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0352" y="5024628"/>
            <a:ext cx="512064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806440" y="3977640"/>
            <a:ext cx="640080" cy="201168"/>
          </a:xfrm>
          <a:prstGeom prst="rightArrow">
            <a:avLst/>
          </a:prstGeom>
          <a:solidFill>
            <a:srgbClr val="F2A541"/>
          </a:solidFill>
          <a:ln/>
        </p:spPr>
      </p:sp>
      <p:sp>
        <p:nvSpPr>
          <p:cNvPr id="22" name="Shape 20"/>
          <p:cNvSpPr/>
          <p:nvPr/>
        </p:nvSpPr>
        <p:spPr>
          <a:xfrm>
            <a:off x="6629400" y="2788920"/>
            <a:ext cx="5010912" cy="2743200"/>
          </a:xfrm>
          <a:prstGeom prst="roundRect">
            <a:avLst>
              <a:gd name="adj" fmla="val 5333"/>
            </a:avLst>
          </a:prstGeom>
          <a:solidFill>
            <a:srgbClr val="0E7C7B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03720" y="3108960"/>
            <a:ext cx="4462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OPD WORKFLOW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995160" y="4023360"/>
            <a:ext cx="42793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A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secure, intelligent and realtime OPD workflow designed as a semester-level prototype — decision support for staff, not autonomous diagnosis or a doctor replacement.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8FB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— Initial Progress Review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Digital OPD Management System — Milestone 1</dc:title>
  <dc:subject>PptxGenJS Presentation</dc:subject>
  <dc:creator>Semester Project Team</dc:creator>
  <cp:lastModifiedBy>Semester Project Team</cp:lastModifiedBy>
  <cp:revision>1</cp:revision>
  <dcterms:created xsi:type="dcterms:W3CDTF">2026-08-21T06:08:53Z</dcterms:created>
  <dcterms:modified xsi:type="dcterms:W3CDTF">2026-08-21T06:08:53Z</dcterms:modified>
</cp:coreProperties>
</file>